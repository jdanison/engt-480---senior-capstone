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4" r:id="rId3"/>
    <p:sldId id="260" r:id="rId4"/>
    <p:sldId id="261" r:id="rId5"/>
    <p:sldId id="262" r:id="rId6"/>
    <p:sldId id="263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87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3629E-7B87-4149-BEDE-508A2BF724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E6F13B-87C1-4938-A4DE-08EE0651C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Refine Data Acquisition Strategy | Specifically, How Data Will Be Formatted </a:t>
          </a:r>
        </a:p>
      </dgm:t>
    </dgm:pt>
    <dgm:pt modelId="{1990ADE8-CC37-405F-83EF-993A109E6D73}" type="parTrans" cxnId="{534740D0-CE20-4C8D-8C08-328A883C9D9F}">
      <dgm:prSet/>
      <dgm:spPr/>
      <dgm:t>
        <a:bodyPr/>
        <a:lstStyle/>
        <a:p>
          <a:endParaRPr lang="en-US"/>
        </a:p>
      </dgm:t>
    </dgm:pt>
    <dgm:pt modelId="{9D22DBC1-26D6-4853-90F1-4B14011A8763}" type="sibTrans" cxnId="{534740D0-CE20-4C8D-8C08-328A883C9D9F}">
      <dgm:prSet/>
      <dgm:spPr/>
      <dgm:t>
        <a:bodyPr/>
        <a:lstStyle/>
        <a:p>
          <a:endParaRPr lang="en-US"/>
        </a:p>
      </dgm:t>
    </dgm:pt>
    <dgm:pt modelId="{1EBE1407-3927-434B-B855-B629929A5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Have Sensors Picked &amp; Documentation For Reasons Complete</a:t>
          </a:r>
        </a:p>
      </dgm:t>
    </dgm:pt>
    <dgm:pt modelId="{B2D38706-E25E-4410-A5F3-139749A6F76A}" type="parTrans" cxnId="{DD97DAA0-47A3-416A-8DFF-D8668CD77FB4}">
      <dgm:prSet/>
      <dgm:spPr/>
      <dgm:t>
        <a:bodyPr/>
        <a:lstStyle/>
        <a:p>
          <a:endParaRPr lang="en-US"/>
        </a:p>
      </dgm:t>
    </dgm:pt>
    <dgm:pt modelId="{82793429-FB0A-405F-B604-6ABB2FDAB99C}" type="sibTrans" cxnId="{DD97DAA0-47A3-416A-8DFF-D8668CD77FB4}">
      <dgm:prSet/>
      <dgm:spPr/>
      <dgm:t>
        <a:bodyPr/>
        <a:lstStyle/>
        <a:p>
          <a:endParaRPr lang="en-US"/>
        </a:p>
      </dgm:t>
    </dgm:pt>
    <dgm:pt modelId="{F54D8EAB-799D-4CF2-9EC1-415E36248699}" type="pres">
      <dgm:prSet presAssocID="{F1F3629E-7B87-4149-BEDE-508A2BF7244F}" presName="root" presStyleCnt="0">
        <dgm:presLayoutVars>
          <dgm:dir/>
          <dgm:resizeHandles val="exact"/>
        </dgm:presLayoutVars>
      </dgm:prSet>
      <dgm:spPr/>
    </dgm:pt>
    <dgm:pt modelId="{6D4F9019-CA05-4C9B-B603-CDA5EFD9B127}" type="pres">
      <dgm:prSet presAssocID="{81E6F13B-87C1-4938-A4DE-08EE0651C8D2}" presName="compNode" presStyleCnt="0"/>
      <dgm:spPr/>
    </dgm:pt>
    <dgm:pt modelId="{6B9D5D17-7810-4649-9442-C76BDA8E5602}" type="pres">
      <dgm:prSet presAssocID="{81E6F13B-87C1-4938-A4DE-08EE0651C8D2}" presName="bgRect" presStyleLbl="bgShp" presStyleIdx="0" presStyleCnt="2"/>
      <dgm:spPr/>
    </dgm:pt>
    <dgm:pt modelId="{AE918213-D440-4B86-BB99-B636DD0A157E}" type="pres">
      <dgm:prSet presAssocID="{81E6F13B-87C1-4938-A4DE-08EE0651C8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D4BEB4-99F2-47AD-B958-71C00CBAE2E5}" type="pres">
      <dgm:prSet presAssocID="{81E6F13B-87C1-4938-A4DE-08EE0651C8D2}" presName="spaceRect" presStyleCnt="0"/>
      <dgm:spPr/>
    </dgm:pt>
    <dgm:pt modelId="{0BFB30E3-5676-4181-96D1-AF545B6BA7B8}" type="pres">
      <dgm:prSet presAssocID="{81E6F13B-87C1-4938-A4DE-08EE0651C8D2}" presName="parTx" presStyleLbl="revTx" presStyleIdx="0" presStyleCnt="2">
        <dgm:presLayoutVars>
          <dgm:chMax val="0"/>
          <dgm:chPref val="0"/>
        </dgm:presLayoutVars>
      </dgm:prSet>
      <dgm:spPr/>
    </dgm:pt>
    <dgm:pt modelId="{ED5F06AB-286E-49E4-B623-47E8F8E72D85}" type="pres">
      <dgm:prSet presAssocID="{9D22DBC1-26D6-4853-90F1-4B14011A8763}" presName="sibTrans" presStyleCnt="0"/>
      <dgm:spPr/>
    </dgm:pt>
    <dgm:pt modelId="{198093E0-709F-4C8D-BD2C-53CBE7B233D8}" type="pres">
      <dgm:prSet presAssocID="{1EBE1407-3927-434B-B855-B629929A51F6}" presName="compNode" presStyleCnt="0"/>
      <dgm:spPr/>
    </dgm:pt>
    <dgm:pt modelId="{B18A1257-076A-4F91-A016-1610F6A7F482}" type="pres">
      <dgm:prSet presAssocID="{1EBE1407-3927-434B-B855-B629929A51F6}" presName="bgRect" presStyleLbl="bgShp" presStyleIdx="1" presStyleCnt="2"/>
      <dgm:spPr/>
    </dgm:pt>
    <dgm:pt modelId="{461E3141-63A1-42AD-B2B6-B48A0801F17E}" type="pres">
      <dgm:prSet presAssocID="{1EBE1407-3927-434B-B855-B629929A51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0FF4D4-4F33-4315-8375-2EBA2FE7A4BE}" type="pres">
      <dgm:prSet presAssocID="{1EBE1407-3927-434B-B855-B629929A51F6}" presName="spaceRect" presStyleCnt="0"/>
      <dgm:spPr/>
    </dgm:pt>
    <dgm:pt modelId="{19473300-850D-46BD-A69B-B6439C1D162A}" type="pres">
      <dgm:prSet presAssocID="{1EBE1407-3927-434B-B855-B629929A51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E6DB46-8900-48B2-B7C3-55A77B6AD48A}" type="presOf" srcId="{1EBE1407-3927-434B-B855-B629929A51F6}" destId="{19473300-850D-46BD-A69B-B6439C1D162A}" srcOrd="0" destOrd="0" presId="urn:microsoft.com/office/officeart/2018/2/layout/IconVerticalSolidList"/>
    <dgm:cxn modelId="{C936D089-5247-4D05-94E8-E306C65C1B1E}" type="presOf" srcId="{81E6F13B-87C1-4938-A4DE-08EE0651C8D2}" destId="{0BFB30E3-5676-4181-96D1-AF545B6BA7B8}" srcOrd="0" destOrd="0" presId="urn:microsoft.com/office/officeart/2018/2/layout/IconVerticalSolidList"/>
    <dgm:cxn modelId="{DD97DAA0-47A3-416A-8DFF-D8668CD77FB4}" srcId="{F1F3629E-7B87-4149-BEDE-508A2BF7244F}" destId="{1EBE1407-3927-434B-B855-B629929A51F6}" srcOrd="1" destOrd="0" parTransId="{B2D38706-E25E-4410-A5F3-139749A6F76A}" sibTransId="{82793429-FB0A-405F-B604-6ABB2FDAB99C}"/>
    <dgm:cxn modelId="{7D3A23B7-4200-4387-991B-94503B590D26}" type="presOf" srcId="{F1F3629E-7B87-4149-BEDE-508A2BF7244F}" destId="{F54D8EAB-799D-4CF2-9EC1-415E36248699}" srcOrd="0" destOrd="0" presId="urn:microsoft.com/office/officeart/2018/2/layout/IconVerticalSolidList"/>
    <dgm:cxn modelId="{534740D0-CE20-4C8D-8C08-328A883C9D9F}" srcId="{F1F3629E-7B87-4149-BEDE-508A2BF7244F}" destId="{81E6F13B-87C1-4938-A4DE-08EE0651C8D2}" srcOrd="0" destOrd="0" parTransId="{1990ADE8-CC37-405F-83EF-993A109E6D73}" sibTransId="{9D22DBC1-26D6-4853-90F1-4B14011A8763}"/>
    <dgm:cxn modelId="{22810664-DE4C-4F8D-8DB3-1767FA88A67E}" type="presParOf" srcId="{F54D8EAB-799D-4CF2-9EC1-415E36248699}" destId="{6D4F9019-CA05-4C9B-B603-CDA5EFD9B127}" srcOrd="0" destOrd="0" presId="urn:microsoft.com/office/officeart/2018/2/layout/IconVerticalSolidList"/>
    <dgm:cxn modelId="{67A578C0-0392-4B3C-80A7-13A48097FA8E}" type="presParOf" srcId="{6D4F9019-CA05-4C9B-B603-CDA5EFD9B127}" destId="{6B9D5D17-7810-4649-9442-C76BDA8E5602}" srcOrd="0" destOrd="0" presId="urn:microsoft.com/office/officeart/2018/2/layout/IconVerticalSolidList"/>
    <dgm:cxn modelId="{CCB264C7-5C60-4FDA-AACC-524FA34CB24C}" type="presParOf" srcId="{6D4F9019-CA05-4C9B-B603-CDA5EFD9B127}" destId="{AE918213-D440-4B86-BB99-B636DD0A157E}" srcOrd="1" destOrd="0" presId="urn:microsoft.com/office/officeart/2018/2/layout/IconVerticalSolidList"/>
    <dgm:cxn modelId="{1C076DE9-2F56-4664-9851-F7951FDDC046}" type="presParOf" srcId="{6D4F9019-CA05-4C9B-B603-CDA5EFD9B127}" destId="{E8D4BEB4-99F2-47AD-B958-71C00CBAE2E5}" srcOrd="2" destOrd="0" presId="urn:microsoft.com/office/officeart/2018/2/layout/IconVerticalSolidList"/>
    <dgm:cxn modelId="{657A6316-CED7-47E0-AB2B-3B74DC09C12E}" type="presParOf" srcId="{6D4F9019-CA05-4C9B-B603-CDA5EFD9B127}" destId="{0BFB30E3-5676-4181-96D1-AF545B6BA7B8}" srcOrd="3" destOrd="0" presId="urn:microsoft.com/office/officeart/2018/2/layout/IconVerticalSolidList"/>
    <dgm:cxn modelId="{6794E86E-E31E-49D2-B401-86A76ABCCEB8}" type="presParOf" srcId="{F54D8EAB-799D-4CF2-9EC1-415E36248699}" destId="{ED5F06AB-286E-49E4-B623-47E8F8E72D85}" srcOrd="1" destOrd="0" presId="urn:microsoft.com/office/officeart/2018/2/layout/IconVerticalSolidList"/>
    <dgm:cxn modelId="{45F5263F-715C-4190-91FE-A8C8547A50AA}" type="presParOf" srcId="{F54D8EAB-799D-4CF2-9EC1-415E36248699}" destId="{198093E0-709F-4C8D-BD2C-53CBE7B233D8}" srcOrd="2" destOrd="0" presId="urn:microsoft.com/office/officeart/2018/2/layout/IconVerticalSolidList"/>
    <dgm:cxn modelId="{05078E09-A4B1-41E8-8AD2-D939E252A300}" type="presParOf" srcId="{198093E0-709F-4C8D-BD2C-53CBE7B233D8}" destId="{B18A1257-076A-4F91-A016-1610F6A7F482}" srcOrd="0" destOrd="0" presId="urn:microsoft.com/office/officeart/2018/2/layout/IconVerticalSolidList"/>
    <dgm:cxn modelId="{17F2F276-5195-44C3-A9D9-AD3FFBE2CED1}" type="presParOf" srcId="{198093E0-709F-4C8D-BD2C-53CBE7B233D8}" destId="{461E3141-63A1-42AD-B2B6-B48A0801F17E}" srcOrd="1" destOrd="0" presId="urn:microsoft.com/office/officeart/2018/2/layout/IconVerticalSolidList"/>
    <dgm:cxn modelId="{B65EAFEC-45E4-46FA-A76B-F75CDE1E3BFA}" type="presParOf" srcId="{198093E0-709F-4C8D-BD2C-53CBE7B233D8}" destId="{050FF4D4-4F33-4315-8375-2EBA2FE7A4BE}" srcOrd="2" destOrd="0" presId="urn:microsoft.com/office/officeart/2018/2/layout/IconVerticalSolidList"/>
    <dgm:cxn modelId="{1A1E399B-792B-4ACA-A050-4244A6618CD6}" type="presParOf" srcId="{198093E0-709F-4C8D-BD2C-53CBE7B233D8}" destId="{19473300-850D-46BD-A69B-B6439C1D1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I feel that I met my promises this past week. I have further brainstormed and laid out the storage packet and DAQ strategy.</a:t>
          </a:r>
        </a:p>
        <a:p>
          <a:r>
            <a:rPr lang="en-US" dirty="0"/>
            <a:t>I also created a BoM &amp; sent it to Skylar for procurement.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have attended every class. </a:t>
          </a:r>
        </a:p>
        <a:p>
          <a:r>
            <a:rPr lang="en-US" dirty="0"/>
            <a:t>I continue to lead the EE &amp; DAQ of this project.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High Level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7E798AD5-3A0E-4E06-A9E2-8101DA3FA924}">
      <dgm:prSet/>
      <dgm:spPr/>
      <dgm:t>
        <a:bodyPr/>
        <a:lstStyle/>
        <a:p>
          <a:endParaRPr lang="en-US"/>
        </a:p>
      </dgm:t>
    </dgm:pt>
    <dgm:pt modelId="{58956129-593C-4536-8F2F-D6F898EC3720}" type="sibTrans" cxnId="{7E798AD5-3A0E-4E06-A9E2-8101DA3FA924}">
      <dgm:prSet/>
      <dgm:spPr/>
      <dgm:t>
        <a:bodyPr/>
        <a:lstStyle/>
        <a:p>
          <a:endParaRPr lang="en-US"/>
        </a:p>
      </dgm:t>
    </dgm:pt>
    <dgm:pt modelId="{9E025F83-A093-4AFC-AC87-28C409DB8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After the team goes on the manufacturing visit, we will pick the strain gauge the fits the physical requirements for the coupler.</a:t>
          </a:r>
        </a:p>
        <a:p>
          <a:pPr>
            <a:lnSpc>
              <a:spcPct val="100000"/>
            </a:lnSpc>
          </a:pPr>
          <a:r>
            <a:rPr lang="en-US" dirty="0"/>
            <a:t>Continue to research industry standard data acquisition methods and packet creation.</a:t>
          </a:r>
        </a:p>
      </dgm:t>
    </dgm:pt>
    <dgm:pt modelId="{767A8EE9-7A7C-444D-A52F-FA73992B2B7B}" type="parTrans" cxnId="{8975D98C-7772-4376-8B7E-61B7E3CD0B47}">
      <dgm:prSet/>
      <dgm:spPr/>
      <dgm:t>
        <a:bodyPr/>
        <a:lstStyle/>
        <a:p>
          <a:endParaRPr lang="en-US"/>
        </a:p>
      </dgm:t>
    </dgm:pt>
    <dgm:pt modelId="{B89188CB-E1E3-45D5-879D-E3D0128B3945}" type="sibTrans" cxnId="{8975D98C-7772-4376-8B7E-61B7E3CD0B47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Find applicable strain gauge &amp; ADC converter.</a:t>
          </a:r>
        </a:p>
        <a:p>
          <a:pPr>
            <a:lnSpc>
              <a:spcPct val="100000"/>
            </a:lnSpc>
          </a:pPr>
          <a:r>
            <a:rPr lang="en-US" dirty="0"/>
            <a:t>Create parts procurement to start prototyping process.</a:t>
          </a:r>
        </a:p>
        <a:p>
          <a:pPr>
            <a:lnSpc>
              <a:spcPct val="100000"/>
            </a:lnSpc>
          </a:pPr>
          <a:r>
            <a:rPr lang="en-US" dirty="0"/>
            <a:t>Attempt to setup a meeting with my internship mentor and ask about their data acquisition method for airplanes.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AF4DF281-F394-48D3-8C7F-F8B45D79087C}" type="presOf" srcId="{97E32105-08D7-4139-9F4B-3AA86443B2F6}" destId="{82A6DA78-ED68-48DB-B275-E21C38A49C2E}" srcOrd="0" destOrd="0" presId="urn:microsoft.com/office/officeart/2018/5/layout/CenteredIconLabelDescriptionList"/>
    <dgm:cxn modelId="{F660F381-3474-4959-9FEC-7C54816EA70C}" type="presOf" srcId="{9E025F83-A093-4AFC-AC87-28C409DB8A0A}" destId="{6961EB70-9F99-4472-A05C-AAD051EDED01}" srcOrd="0" destOrd="0" presId="urn:microsoft.com/office/officeart/2018/5/layout/CenteredIconLabelDescriptionList"/>
    <dgm:cxn modelId="{8975D98C-7772-4376-8B7E-61B7E3CD0B47}" srcId="{55F31D8C-D1BC-4945-816B-2FA70AF3F016}" destId="{9E025F83-A093-4AFC-AC87-28C409DB8A0A}" srcOrd="0" destOrd="0" parTransId="{767A8EE9-7A7C-444D-A52F-FA73992B2B7B}" sibTransId="{B89188CB-E1E3-45D5-879D-E3D0128B3945}"/>
    <dgm:cxn modelId="{F12A338D-FE74-4F51-9436-E51E6EB6DDCA}" type="presOf" srcId="{64C940D0-7C24-4764-8258-BC5A4C92CA47}" destId="{62AF9954-8D2E-43F8-8C8F-1E22516A1735}" srcOrd="0" destOrd="0" presId="urn:microsoft.com/office/officeart/2018/5/layout/CenteredIconLabelDescriptionList"/>
    <dgm:cxn modelId="{1E4DA1B0-976B-4C11-98D5-00C44C3A526A}" type="presOf" srcId="{55F31D8C-D1BC-4945-816B-2FA70AF3F016}" destId="{49DD8519-5670-4591-9EB3-07C9204FA964}" srcOrd="0" destOrd="0" presId="urn:microsoft.com/office/officeart/2018/5/layout/CenteredIconLabelDescriptionList"/>
    <dgm:cxn modelId="{7E798AD5-3A0E-4E06-A9E2-8101DA3FA924}" srcId="{16E70653-6C3E-4194-8BE6-BFFB82B8AE46}" destId="{97E32105-08D7-4139-9F4B-3AA86443B2F6}" srcOrd="1" destOrd="0" parTransId="{2B229D14-6EA2-49BB-831B-8886C2038AB3}" sibTransId="{58956129-593C-4536-8F2F-D6F898EC3720}"/>
    <dgm:cxn modelId="{C1CFED81-0FDC-4095-8982-EF7E54BD5739}" type="presParOf" srcId="{1BA61194-1A65-47E5-9083-0F678EF72D01}" destId="{A5677909-CE19-4879-AE75-A5D3913521E3}" srcOrd="0" destOrd="0" presId="urn:microsoft.com/office/officeart/2018/5/layout/CenteredIconLabelDescriptionList"/>
    <dgm:cxn modelId="{FA9660E6-1625-4076-9888-C55B93AE6432}" type="presParOf" srcId="{A5677909-CE19-4879-AE75-A5D3913521E3}" destId="{D30F4C7D-B0AD-43EB-BB46-3E92E7BE97DC}" srcOrd="0" destOrd="0" presId="urn:microsoft.com/office/officeart/2018/5/layout/CenteredIconLabelDescriptionList"/>
    <dgm:cxn modelId="{470D5161-5B41-4481-AEF7-2480DC441098}" type="presParOf" srcId="{A5677909-CE19-4879-AE75-A5D3913521E3}" destId="{326AA21A-0B61-4C87-9242-6E2F697C4863}" srcOrd="1" destOrd="0" presId="urn:microsoft.com/office/officeart/2018/5/layout/CenteredIconLabelDescriptionList"/>
    <dgm:cxn modelId="{2585FC59-B850-4689-9741-01517146F5CA}" type="presParOf" srcId="{A5677909-CE19-4879-AE75-A5D3913521E3}" destId="{49DD8519-5670-4591-9EB3-07C9204FA964}" srcOrd="2" destOrd="0" presId="urn:microsoft.com/office/officeart/2018/5/layout/CenteredIconLabelDescriptionList"/>
    <dgm:cxn modelId="{8936E1E8-41B3-48DD-B94B-142E590EF7CF}" type="presParOf" srcId="{A5677909-CE19-4879-AE75-A5D3913521E3}" destId="{9DC07DBC-7E49-4B83-95C9-85C539260489}" srcOrd="3" destOrd="0" presId="urn:microsoft.com/office/officeart/2018/5/layout/CenteredIconLabelDescriptionList"/>
    <dgm:cxn modelId="{6FA397F1-9D7E-43AE-A8D8-CDEC4A395F7C}" type="presParOf" srcId="{A5677909-CE19-4879-AE75-A5D3913521E3}" destId="{6961EB70-9F99-4472-A05C-AAD051EDED01}" srcOrd="4" destOrd="0" presId="urn:microsoft.com/office/officeart/2018/5/layout/CenteredIconLabelDescriptionList"/>
    <dgm:cxn modelId="{5FFCB7D6-2C8C-4402-BBEA-4F8DF3B73F4A}" type="presParOf" srcId="{1BA61194-1A65-47E5-9083-0F678EF72D01}" destId="{C4A20B15-4C8D-49C6-880D-8BBB9376F5D4}" srcOrd="1" destOrd="0" presId="urn:microsoft.com/office/officeart/2018/5/layout/CenteredIconLabelDescriptionList"/>
    <dgm:cxn modelId="{C6FA4C9F-DEB7-45E3-B74C-8DE12C388658}" type="presParOf" srcId="{1BA61194-1A65-47E5-9083-0F678EF72D01}" destId="{14B5DE4B-3C0A-4B56-9253-5DE35BD8657C}" srcOrd="2" destOrd="0" presId="urn:microsoft.com/office/officeart/2018/5/layout/CenteredIconLabelDescriptionList"/>
    <dgm:cxn modelId="{3C3127A8-C5C2-4CB5-8579-64373B111C39}" type="presParOf" srcId="{14B5DE4B-3C0A-4B56-9253-5DE35BD8657C}" destId="{3C0C3B54-0C6A-44F7-8672-C39FD3FC5F1B}" srcOrd="0" destOrd="0" presId="urn:microsoft.com/office/officeart/2018/5/layout/CenteredIconLabelDescriptionList"/>
    <dgm:cxn modelId="{782CAACA-CD8C-49A9-9808-091F950396DC}" type="presParOf" srcId="{14B5DE4B-3C0A-4B56-9253-5DE35BD8657C}" destId="{98553BE2-2FDB-4947-8A5E-5CB0ED603211}" srcOrd="1" destOrd="0" presId="urn:microsoft.com/office/officeart/2018/5/layout/CenteredIconLabelDescriptionList"/>
    <dgm:cxn modelId="{34BBD245-3EA4-4FC8-8189-FE4506B763EA}" type="presParOf" srcId="{14B5DE4B-3C0A-4B56-9253-5DE35BD8657C}" destId="{82A6DA78-ED68-48DB-B275-E21C38A49C2E}" srcOrd="2" destOrd="0" presId="urn:microsoft.com/office/officeart/2018/5/layout/CenteredIconLabelDescriptionList"/>
    <dgm:cxn modelId="{881A9716-A7E1-4573-B7A0-98F37F90BB50}" type="presParOf" srcId="{14B5DE4B-3C0A-4B56-9253-5DE35BD8657C}" destId="{210EEEEB-2486-4AA6-A228-33A4A464DE0E}" srcOrd="3" destOrd="0" presId="urn:microsoft.com/office/officeart/2018/5/layout/CenteredIconLabelDescriptionList"/>
    <dgm:cxn modelId="{99550D67-77F5-4D5B-9163-FF15D058D55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D5D17-7810-4649-9442-C76BDA8E5602}">
      <dsp:nvSpPr>
        <dsp:cNvPr id="0" name=""/>
        <dsp:cNvSpPr/>
      </dsp:nvSpPr>
      <dsp:spPr>
        <a:xfrm>
          <a:off x="0" y="648511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18213-D440-4B86-BB99-B636DD0A157E}">
      <dsp:nvSpPr>
        <dsp:cNvPr id="0" name=""/>
        <dsp:cNvSpPr/>
      </dsp:nvSpPr>
      <dsp:spPr>
        <a:xfrm>
          <a:off x="362168" y="917893"/>
          <a:ext cx="658488" cy="6584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30E3-5676-4181-96D1-AF545B6BA7B8}">
      <dsp:nvSpPr>
        <dsp:cNvPr id="0" name=""/>
        <dsp:cNvSpPr/>
      </dsp:nvSpPr>
      <dsp:spPr>
        <a:xfrm>
          <a:off x="1382826" y="648511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Refine Data Acquisition Strategy | Specifically, How Data Will Be Formatted </a:t>
          </a:r>
        </a:p>
      </dsp:txBody>
      <dsp:txXfrm>
        <a:off x="1382826" y="648511"/>
        <a:ext cx="6427415" cy="1197252"/>
      </dsp:txXfrm>
    </dsp:sp>
    <dsp:sp modelId="{B18A1257-076A-4F91-A016-1610F6A7F482}">
      <dsp:nvSpPr>
        <dsp:cNvPr id="0" name=""/>
        <dsp:cNvSpPr/>
      </dsp:nvSpPr>
      <dsp:spPr>
        <a:xfrm>
          <a:off x="0" y="2145077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E3141-63A1-42AD-B2B6-B48A0801F17E}">
      <dsp:nvSpPr>
        <dsp:cNvPr id="0" name=""/>
        <dsp:cNvSpPr/>
      </dsp:nvSpPr>
      <dsp:spPr>
        <a:xfrm>
          <a:off x="362168" y="2414458"/>
          <a:ext cx="658488" cy="6584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3300-850D-46BD-A69B-B6439C1D162A}">
      <dsp:nvSpPr>
        <dsp:cNvPr id="0" name=""/>
        <dsp:cNvSpPr/>
      </dsp:nvSpPr>
      <dsp:spPr>
        <a:xfrm>
          <a:off x="1382826" y="2145077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Have Sensors Picked &amp; Documentation For Reasons Complete</a:t>
          </a:r>
        </a:p>
      </dsp:txBody>
      <dsp:txXfrm>
        <a:off x="1382826" y="2145077"/>
        <a:ext cx="6427415" cy="1197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feel that I met my promises this past week. I have further brainstormed and laid out the storage packet and DAQ strategy.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also created a BoM &amp; sent it to Skylar for procurement.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have attended every class.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continue to lead the EE &amp; DAQ of this project.</a:t>
          </a:r>
        </a:p>
      </dsp:txBody>
      <dsp:txXfrm>
        <a:off x="6331365" y="692298"/>
        <a:ext cx="4508047" cy="2799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73131" y="62154"/>
          <a:ext cx="1510523" cy="14686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70502" y="1718380"/>
          <a:ext cx="4315781" cy="629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High Level</a:t>
          </a:r>
        </a:p>
      </dsp:txBody>
      <dsp:txXfrm>
        <a:off x="770502" y="1718380"/>
        <a:ext cx="4315781" cy="629428"/>
      </dsp:txXfrm>
    </dsp:sp>
    <dsp:sp modelId="{6961EB70-9F99-4472-A05C-AAD051EDED01}">
      <dsp:nvSpPr>
        <dsp:cNvPr id="0" name=""/>
        <dsp:cNvSpPr/>
      </dsp:nvSpPr>
      <dsp:spPr>
        <a:xfrm>
          <a:off x="770502" y="2435046"/>
          <a:ext cx="4315781" cy="198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After the team goes on the manufacturing visit, we will pick the strain gauge the fits the physical requirements for the coupler.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research industry standard data acquisition methods and packet creation.</a:t>
          </a:r>
        </a:p>
      </dsp:txBody>
      <dsp:txXfrm>
        <a:off x="770502" y="2435046"/>
        <a:ext cx="4315781" cy="1988938"/>
      </dsp:txXfrm>
    </dsp:sp>
    <dsp:sp modelId="{3C0C3B54-0C6A-44F7-8672-C39FD3FC5F1B}">
      <dsp:nvSpPr>
        <dsp:cNvPr id="0" name=""/>
        <dsp:cNvSpPr/>
      </dsp:nvSpPr>
      <dsp:spPr>
        <a:xfrm>
          <a:off x="7244174" y="62154"/>
          <a:ext cx="1510523" cy="14686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545" y="1718380"/>
          <a:ext cx="4315781" cy="629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545" y="1718380"/>
        <a:ext cx="4315781" cy="629428"/>
      </dsp:txXfrm>
    </dsp:sp>
    <dsp:sp modelId="{62AF9954-8D2E-43F8-8C8F-1E22516A1735}">
      <dsp:nvSpPr>
        <dsp:cNvPr id="0" name=""/>
        <dsp:cNvSpPr/>
      </dsp:nvSpPr>
      <dsp:spPr>
        <a:xfrm>
          <a:off x="5841545" y="2435046"/>
          <a:ext cx="4315781" cy="1988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Find applicable strain gauge &amp; ADC converter.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parts procurement to start prototyping process.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Attempt to setup a meeting with my internship mentor and ask about their data acquisition method for airplanes.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5841545" y="2435046"/>
        <a:ext cx="4315781" cy="1988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A426D-D57A-FDD3-92F2-C40B9DF2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EAD05C-25EE-EEDF-1A3A-D61274CD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11E88-B68A-9882-6BCB-A56A4A660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7B015-67E6-901A-8DCD-BAFA49DC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823A9-E726-D97F-DE7E-4A2D24A68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5F532-6793-FE75-CD4F-7F6A6E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Did I Say I Would Do This Week?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53840E-6C32-3CB2-F60E-86A23D5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801243"/>
              </p:ext>
            </p:extLst>
          </p:nvPr>
        </p:nvGraphicFramePr>
        <p:xfrm>
          <a:off x="2337498" y="2517954"/>
          <a:ext cx="7810242" cy="399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8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 Have Done This Week Pt1.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76ACF2-79E8-003A-8D5E-68FBFACD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552" y="2338228"/>
            <a:ext cx="6069594" cy="4967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Compared Data Acquisition Strategies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C8AF66-740C-0804-87CB-0E6B9936F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42885"/>
              </p:ext>
            </p:extLst>
          </p:nvPr>
        </p:nvGraphicFramePr>
        <p:xfrm>
          <a:off x="186350" y="2836295"/>
          <a:ext cx="8127999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334843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275017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49945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Time-Based Acquisition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Burst-Based Acquisition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639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Sampling Trigger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Fixed interval (e.g., timer)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 or condition-based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64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Rate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Variable, bursty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69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Power Efficiency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to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(system sleeps most of the time)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263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Suitability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Slowly changing signals (Temp, RH)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 or transient signals (Accel, Strain)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512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Implementation Complexity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Higher (requires event detection logic)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17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 Volume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Reduced, but burst-heavy when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054570"/>
                  </a:ext>
                </a:extLst>
              </a:tr>
            </a:tbl>
          </a:graphicData>
        </a:graphic>
      </p:graphicFrame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2EB956-1934-EC8B-8FDC-597654ECE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" t="27003" r="54098" b="41377"/>
          <a:stretch>
            <a:fillRect/>
          </a:stretch>
        </p:blipFill>
        <p:spPr>
          <a:xfrm>
            <a:off x="8783659" y="2518294"/>
            <a:ext cx="3221990" cy="2061288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DE9950-C4D2-6766-353B-40AA46D25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1" t="27003" r="2715" b="41377"/>
          <a:stretch>
            <a:fillRect/>
          </a:stretch>
        </p:blipFill>
        <p:spPr>
          <a:xfrm>
            <a:off x="8783660" y="4730553"/>
            <a:ext cx="3221990" cy="19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85746-53D7-40CB-5843-0DACAA6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09EC4C-0674-352E-08BD-C0BF19B4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175C94-2403-49C6-C9F7-FBADD51E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F1B0C0-AD90-2C98-C637-94AF432CD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D360A3-DF16-C110-1501-FA3BA4F4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A2C70-90BB-6897-4413-2A6A4850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 Have Done This Week Pt2.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B13F79-D3D0-F697-1176-0529ED4A8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99" y="2273574"/>
            <a:ext cx="5620849" cy="44427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It appears that a Burst-Based DAQ strategy is most applicable for this application.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importantly, we have the space available to attempt this.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can record the temperature &amp; relative humidity once at the beginning of the burst data from the acceleration and strain gauge sensors. This bundles data into one large “event” for Wabash to use.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2646B1-9DAD-6305-67B9-CC5717FE7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335245"/>
              </p:ext>
            </p:extLst>
          </p:nvPr>
        </p:nvGraphicFramePr>
        <p:xfrm>
          <a:off x="5965307" y="2273574"/>
          <a:ext cx="6069594" cy="4279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98">
                  <a:extLst>
                    <a:ext uri="{9D8B030D-6E8A-4147-A177-3AD203B41FA5}">
                      <a16:colId xmlns:a16="http://schemas.microsoft.com/office/drawing/2014/main" val="679782884"/>
                    </a:ext>
                  </a:extLst>
                </a:gridCol>
                <a:gridCol w="2023198">
                  <a:extLst>
                    <a:ext uri="{9D8B030D-6E8A-4147-A177-3AD203B41FA5}">
                      <a16:colId xmlns:a16="http://schemas.microsoft.com/office/drawing/2014/main" val="2159178892"/>
                    </a:ext>
                  </a:extLst>
                </a:gridCol>
                <a:gridCol w="2023198">
                  <a:extLst>
                    <a:ext uri="{9D8B030D-6E8A-4147-A177-3AD203B41FA5}">
                      <a16:colId xmlns:a16="http://schemas.microsoft.com/office/drawing/2014/main" val="1252815479"/>
                    </a:ext>
                  </a:extLst>
                </a:gridCol>
              </a:tblGrid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Parameter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Value / Calculation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Result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406417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Sensors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3-axis accel + 1 strain (high-rate) + Temp &amp; RH (1 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450585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Sampling Rate (Accel/Strain)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2,000 samples/sec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797968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Data Format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16-bit (2 bytes/sample)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672256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Data Rate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2,000 × 4 ×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16 kB/s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575346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Burst Duration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2 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947917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Burst Size (Accel + Strain)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 kB/s × 2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≈ 32 kB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06930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Temp + RH Samples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 sensors × 2 bytes 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+ 4 B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011416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Total per Burst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32 kB + 4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≈ 32 kB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944093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128 GB microSD Capacity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≈ 137,000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374100"/>
                  </a:ext>
                </a:extLst>
              </a:tr>
              <a:tr h="353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Bursts Storable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137,000 MB ÷ 0.031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≈ 4.3 million bursts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4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26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C7169-87F7-5B0B-D5F5-E127E1DC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576845-D241-95E6-7B36-F8BB32343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D52C2E-ED77-365C-7E1F-6416DE481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3AADD4-5E98-CFE5-A6B7-96414ECB9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821F0F-C16A-A7EC-BDF9-2BADAAF71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CA155-49BF-DCD7-3966-2683F91CE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 Have Done This Week Pt3.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B5C4A2-14C5-6918-B08C-F76D76330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99" y="2273574"/>
            <a:ext cx="12034901" cy="7412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Sample Data Packet / Entry:</a:t>
            </a:r>
          </a:p>
        </p:txBody>
      </p:sp>
      <p:pic>
        <p:nvPicPr>
          <p:cNvPr id="5" name="Picture 4" descr="A diagram of a burst meta data&#10;&#10;AI-generated content may be incorrect.">
            <a:extLst>
              <a:ext uri="{FF2B5EF4-FFF2-40B4-BE49-F238E27FC236}">
                <a16:creationId xmlns:a16="http://schemas.microsoft.com/office/drawing/2014/main" id="{FDBF0A86-665C-5ABF-6025-D69293CB1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/>
          <a:stretch>
            <a:fillRect/>
          </a:stretch>
        </p:blipFill>
        <p:spPr>
          <a:xfrm>
            <a:off x="2579045" y="3014804"/>
            <a:ext cx="7033909" cy="3585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715A58-9F9A-0BA0-A233-94869CAF0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5292725"/>
            <a:ext cx="927099" cy="590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51F909-F460-1AE6-B051-B0509EE0A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048" y="5507716"/>
            <a:ext cx="177801" cy="22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98D48-EFB3-41EA-F632-5FF3F004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424EC5-CADC-D981-DEC1-938F2104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5FCD54-F1CA-AEB4-5776-91A32B0FC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B27D2-7DDA-3B93-97EA-51082EB92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DDCF4-2961-F3B4-779D-235C3E03C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38B51-3BE0-6C37-2177-F20943901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 Have Done This Week Pt4.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0C547D-38D5-3FFE-77A5-EE50CC49B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99" y="2273574"/>
            <a:ext cx="12034901" cy="7412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Sensors Picked: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74819-5951-8BFE-FB9B-DBE51FD80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8" t="1321" r="13408" b="47723"/>
          <a:stretch>
            <a:fillRect/>
          </a:stretch>
        </p:blipFill>
        <p:spPr bwMode="auto">
          <a:xfrm>
            <a:off x="784846" y="3790656"/>
            <a:ext cx="3112280" cy="216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0B3C298-EA66-D838-2695-D421D0FAE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4" t="28251" r="17701" b="23432"/>
          <a:stretch>
            <a:fillRect/>
          </a:stretch>
        </p:blipFill>
        <p:spPr bwMode="auto">
          <a:xfrm>
            <a:off x="4681972" y="3790657"/>
            <a:ext cx="3121294" cy="216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785FE5-FA66-C516-59DE-A5419DBE01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0" t="26167" r="5729" b="30662"/>
          <a:stretch>
            <a:fillRect/>
          </a:stretch>
        </p:blipFill>
        <p:spPr bwMode="auto">
          <a:xfrm>
            <a:off x="8374002" y="4112343"/>
            <a:ext cx="3247261" cy="164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E4687C-0D1A-F7E6-AA2B-FB1CE88B348E}"/>
              </a:ext>
            </a:extLst>
          </p:cNvPr>
          <p:cNvSpPr txBox="1"/>
          <p:nvPr/>
        </p:nvSpPr>
        <p:spPr>
          <a:xfrm>
            <a:off x="784846" y="2774993"/>
            <a:ext cx="3112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Temperature &amp; </a:t>
            </a:r>
          </a:p>
          <a:p>
            <a:pPr marL="0" indent="0" algn="ctr">
              <a:buNone/>
            </a:pPr>
            <a:r>
              <a:rPr lang="en-US" sz="2000" dirty="0"/>
              <a:t>Relative Humidity:</a:t>
            </a:r>
          </a:p>
          <a:p>
            <a:pPr marL="0" indent="0" algn="ctr">
              <a:buNone/>
            </a:pPr>
            <a:r>
              <a:rPr lang="en-US" sz="2000" dirty="0"/>
              <a:t>SHT45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4A0F8E-E530-F304-74B2-2BF6FA078AE1}"/>
              </a:ext>
            </a:extLst>
          </p:cNvPr>
          <p:cNvSpPr txBox="1"/>
          <p:nvPr/>
        </p:nvSpPr>
        <p:spPr>
          <a:xfrm>
            <a:off x="4618409" y="2774992"/>
            <a:ext cx="3112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Acceleration / Vibration: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ADXL335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8EC655-744F-E8A6-073D-770B4E5DD81E}"/>
              </a:ext>
            </a:extLst>
          </p:cNvPr>
          <p:cNvSpPr txBox="1"/>
          <p:nvPr/>
        </p:nvSpPr>
        <p:spPr>
          <a:xfrm>
            <a:off x="8358436" y="2774992"/>
            <a:ext cx="3112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Microcontroller: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 err="1"/>
              <a:t>Heltec</a:t>
            </a:r>
            <a:r>
              <a:rPr lang="en-US" sz="2000" dirty="0"/>
              <a:t> LoRa </a:t>
            </a:r>
            <a:r>
              <a:rPr lang="en-US" sz="2000" dirty="0" err="1"/>
              <a:t>WiFi</a:t>
            </a:r>
            <a:r>
              <a:rPr lang="en-US" sz="2000" dirty="0"/>
              <a:t> (V3)</a:t>
            </a:r>
          </a:p>
        </p:txBody>
      </p:sp>
    </p:spTree>
    <p:extLst>
      <p:ext uri="{BB962C8B-B14F-4D97-AF65-F5344CB8AC3E}">
        <p14:creationId xmlns:p14="http://schemas.microsoft.com/office/powerpoint/2010/main" val="42814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35834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Plans For Upcoming Week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694116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511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Wabash Capstone Project Notes 06</vt:lpstr>
      <vt:lpstr>What Did I Say I Would Do This Week?</vt:lpstr>
      <vt:lpstr>What I Have Done This Week Pt1.</vt:lpstr>
      <vt:lpstr>What I Have Done This Week Pt2.</vt:lpstr>
      <vt:lpstr>What I Have Done This Week Pt3.</vt:lpstr>
      <vt:lpstr>What I Have Done This Week Pt4.</vt:lpstr>
      <vt:lpstr>Did I Do What I Say I Would Do?</vt:lpstr>
      <vt:lpstr>Plans For Upcoming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11</cp:revision>
  <dcterms:created xsi:type="dcterms:W3CDTF">2025-09-22T13:39:50Z</dcterms:created>
  <dcterms:modified xsi:type="dcterms:W3CDTF">2025-10-28T02:15:33Z</dcterms:modified>
</cp:coreProperties>
</file>